
<file path=[Content_Types].xml><?xml version="1.0" encoding="utf-8"?>
<Types xmlns="http://schemas.openxmlformats.org/package/2006/content-types">
  <Default Extension="jpeg" ContentType="image/jpeg"/>
  <Default Extension="jpg&amp;f=1&amp;nofb=1&amp;ipt=ee3523f6f98fe1b8a5bee2af6d275b670080af346110ad09e5559529c79f924a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61" r:id="rId5"/>
    <p:sldId id="271" r:id="rId6"/>
    <p:sldId id="260" r:id="rId7"/>
    <p:sldId id="262" r:id="rId8"/>
    <p:sldId id="263" r:id="rId9"/>
    <p:sldId id="264" r:id="rId10"/>
    <p:sldId id="266" r:id="rId11"/>
    <p:sldId id="267" r:id="rId12"/>
    <p:sldId id="270" r:id="rId1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0B60"/>
    <a:srgbClr val="203D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20" autoAdjust="0"/>
    <p:restoredTop sz="94660"/>
  </p:normalViewPr>
  <p:slideViewPr>
    <p:cSldViewPr snapToGrid="0">
      <p:cViewPr>
        <p:scale>
          <a:sx n="100" d="100"/>
          <a:sy n="100" d="100"/>
        </p:scale>
        <p:origin x="130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EC0C5-AD00-8CC0-638E-03B2E8CB1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025E92-9EAB-1452-A911-3A9D4D6F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0D868-4C73-2622-5469-29A0887D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137F-0C03-42E3-B8E5-568C784BFC17}" type="datetimeFigureOut">
              <a:rPr lang="cs-CZ" smtClean="0"/>
              <a:t>02.08.2026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7B4DA-3A2D-22CF-B5B7-B5B78FC95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9FB1E-626A-63A1-7322-5CE49D8C9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87DA-549E-410B-8909-BDD81C92A49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960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6F0D-37D2-B88F-34F6-65A5F620D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AC55B-3C98-0419-7B75-77E6FB27D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88D51-CA51-8FDE-8E6C-A473B7BA7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137F-0C03-42E3-B8E5-568C784BFC17}" type="datetimeFigureOut">
              <a:rPr lang="cs-CZ" smtClean="0"/>
              <a:t>02.08.2026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13120-326E-8FBF-8D36-0A428B4CC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D3A9E-11B4-8428-6539-B4F3E93DA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87DA-549E-410B-8909-BDD81C92A49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0738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409C4-E80E-F888-D167-FD7B3DD46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27439-DB6D-F76D-BB67-E7A9E90E2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EB035-BB2F-4E09-57B5-0CA61A339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137F-0C03-42E3-B8E5-568C784BFC17}" type="datetimeFigureOut">
              <a:rPr lang="cs-CZ" smtClean="0"/>
              <a:t>02.08.2026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DBEFA-5BB5-55B0-DA15-D48B3E635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8A8E1-B056-41C9-D091-3FE2BCD4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87DA-549E-410B-8909-BDD81C92A49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66304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0CE3F-C3EC-CC0E-5C90-19E7A2B5E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65C8B-2585-0124-F400-0C5A81154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9D838-8353-5128-1BC1-CF991DFF8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AF2F5-3464-9BCC-155D-8F6C2ADD4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137F-0C03-42E3-B8E5-568C784BFC17}" type="datetimeFigureOut">
              <a:rPr lang="cs-CZ" smtClean="0"/>
              <a:t>02.08.2026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D81AA-3C44-3477-56AD-DF9E6A7A3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BB0DA-D70E-FC82-F03C-87817028F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87DA-549E-410B-8909-BDD81C92A49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3395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9A301-DE6D-515E-21F5-31113608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CF90E-808F-98EF-DD3A-7E674321A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88B86-8DC1-B937-2B94-1D13DA0A3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D63F76-C7D2-7CCE-0788-618ADB562F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C92A71-0C0F-C9BA-A24E-15A53661ED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2784F4-2B21-ADD9-DEEE-40DCCCAA7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137F-0C03-42E3-B8E5-568C784BFC17}" type="datetimeFigureOut">
              <a:rPr lang="cs-CZ" smtClean="0"/>
              <a:t>02.08.2026</a:t>
            </a:fld>
            <a:endParaRPr lang="cs-C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74D258-591D-E800-EB14-8847A5FC6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BDA30-5A24-3AAD-321D-F29C7BA49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87DA-549E-410B-8909-BDD81C92A49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19086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851E4-9048-807F-D42A-B2959EFE1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CFB39C-11F9-A650-EBC4-B849DDCD4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137F-0C03-42E3-B8E5-568C784BFC17}" type="datetimeFigureOut">
              <a:rPr lang="cs-CZ" smtClean="0"/>
              <a:t>02.08.2026</a:t>
            </a:fld>
            <a:endParaRPr lang="cs-C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47F79-5393-601A-F9E8-301C63DC1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13AD12-D8E2-2EFD-8333-4FD58C8E6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87DA-549E-410B-8909-BDD81C92A49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77364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D3BC9D-EEAB-29B4-296E-5A5E5DCEA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137F-0C03-42E3-B8E5-568C784BFC17}" type="datetimeFigureOut">
              <a:rPr lang="cs-CZ" smtClean="0"/>
              <a:t>02.08.2026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BE2FBE-77B0-D59C-EBF6-BDD97B536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33B24-E81A-8CF8-C8B2-8F1ACF438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87DA-549E-410B-8909-BDD81C92A49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98772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A5A2B-68F9-2ECD-E60F-ACE51598A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62C42-6A2D-D7B1-BBC7-8726D3AA0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CFF6A3-B09C-4831-79F0-C0C92467C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FD084-FF9E-63CC-0185-7775C98F9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137F-0C03-42E3-B8E5-568C784BFC17}" type="datetimeFigureOut">
              <a:rPr lang="cs-CZ" smtClean="0"/>
              <a:t>02.08.2026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4C324-5305-FC75-6306-1B1B78354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36B1C-B310-0EDB-6DD2-08BF4C779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87DA-549E-410B-8909-BDD81C92A49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93056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746A6-E813-9F90-9EAF-169B781C5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5F7720-06DE-A856-6CC7-9AA63DD7A5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411EEC-30B9-3797-91E1-530E4B8C5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AD50B-7345-1886-8125-FBF0F1EEE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137F-0C03-42E3-B8E5-568C784BFC17}" type="datetimeFigureOut">
              <a:rPr lang="cs-CZ" smtClean="0"/>
              <a:t>02.08.2026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FE0A4-F542-4B1A-19FD-F82034C8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10831A-74F5-ED69-939C-67467747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87DA-549E-410B-8909-BDD81C92A49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2862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B0F45-BB6C-921F-DB82-6EB108275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939881-8DBA-5256-9877-9C28A4B99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042BB-81B2-ECBB-AEF6-2EB5FA452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137F-0C03-42E3-B8E5-568C784BFC17}" type="datetimeFigureOut">
              <a:rPr lang="cs-CZ" smtClean="0"/>
              <a:t>02.08.2026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A55F0-EFD9-7087-D1C3-1CDB04F13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76A69-0CB7-8F13-A13A-6C8F94948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87DA-549E-410B-8909-BDD81C92A49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19437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0FC48B-FA11-7C42-C397-6C1D7C08A6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A78469-9FDD-A0FD-25BE-98925BA3A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FEDDB-A196-41B8-C45F-4EC40E879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137F-0C03-42E3-B8E5-568C784BFC17}" type="datetimeFigureOut">
              <a:rPr lang="cs-CZ" smtClean="0"/>
              <a:t>02.08.2026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52047-10C1-7D77-DBE4-D82D73C41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946D-FCD0-8E51-AA84-44694468A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87DA-549E-410B-8909-BDD81C92A49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33706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C724D0-F05C-7A79-36E4-7BD6E8C0C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00A08-2243-CDA2-A725-D816B7434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F9868-AB6B-4801-84E1-53882C590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D0137F-0C03-42E3-B8E5-568C784BFC17}" type="datetimeFigureOut">
              <a:rPr lang="cs-CZ" smtClean="0"/>
              <a:t>02.08.2026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95451-E415-6A6E-CFC8-8B3D01FFB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7D363-0327-E4C6-4A84-31B71C0709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3C87DA-549E-410B-8909-BDD81C92A49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14823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&amp;f=1&amp;nofb=1&amp;ipt=ee3523f6f98fe1b8a5bee2af6d275b670080af346110ad09e5559529c79f924a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4FBF3-8DC4-5790-FF59-94F1475A7F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0214" y="708706"/>
            <a:ext cx="9851571" cy="2387600"/>
          </a:xfrm>
        </p:spPr>
        <p:txBody>
          <a:bodyPr>
            <a:normAutofit fontScale="90000"/>
          </a:bodyPr>
          <a:lstStyle/>
          <a:p>
            <a:pPr algn="l">
              <a:lnSpc>
                <a:spcPct val="100000"/>
              </a:lnSpc>
            </a:pPr>
            <a:r>
              <a:rPr lang="cs-CZ" b="1" dirty="0">
                <a:solidFill>
                  <a:srgbClr val="0B0B60"/>
                </a:solidFill>
                <a:latin typeface="Montserrat" pitchFamily="2" charset="-18"/>
                <a:ea typeface="Calibri" panose="020F0502020204030204" pitchFamily="34" charset="0"/>
                <a:cs typeface="Calibri" panose="020F0502020204030204" pitchFamily="34" charset="0"/>
              </a:rPr>
              <a:t>Představení frameworku </a:t>
            </a:r>
            <a:r>
              <a:rPr lang="cs-CZ" dirty="0">
                <a:latin typeface="Montserrat" pitchFamily="2" charset="-18"/>
                <a:ea typeface="Calibri" panose="020F0502020204030204" pitchFamily="34" charset="0"/>
                <a:cs typeface="Calibri" panose="020F0502020204030204" pitchFamily="34" charset="0"/>
              </a:rPr>
              <a:t>pro vývoj aplikací pomocí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03DC12-C6FF-3D25-4B31-97C5EE897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29894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cs-CZ" dirty="0">
                <a:latin typeface="Open Sans" pitchFamily="2" charset="0"/>
                <a:ea typeface="Open Sans" pitchFamily="2" charset="0"/>
                <a:cs typeface="Open Sans" pitchFamily="2" charset="0"/>
              </a:rPr>
              <a:t>Prezentace </a:t>
            </a:r>
            <a:r>
              <a:rPr lang="cs-CZ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</a:t>
            </a:r>
            <a:r>
              <a:rPr lang="cs-CZ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AI</a:t>
            </a:r>
            <a:r>
              <a:rPr lang="cs-CZ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</a:t>
            </a:r>
            <a:r>
              <a:rPr lang="cs-CZ" dirty="0">
                <a:latin typeface="Open Sans" pitchFamily="2" charset="0"/>
                <a:ea typeface="Open Sans" pitchFamily="2" charset="0"/>
                <a:cs typeface="Open Sans" pitchFamily="2" charset="0"/>
              </a:rPr>
              <a:t> pro FAB AI </a:t>
            </a:r>
            <a:r>
              <a:rPr lang="cs-CZ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ochytřovačku</a:t>
            </a:r>
            <a:endParaRPr lang="cs-CZ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162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B5DCE-BBFE-BA9E-E846-3E3725AE8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Sjednocení znalostí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Představení frameworku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Názorná ukázka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Tipy a triky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E12046-641A-5C24-BDC8-0ECE918798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85" t="12978" r="23499" b="27188"/>
          <a:stretch>
            <a:fillRect/>
          </a:stretch>
        </p:blipFill>
        <p:spPr>
          <a:xfrm>
            <a:off x="10295559" y="4991568"/>
            <a:ext cx="1058241" cy="118539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4D24E93-20E2-7F6E-1741-FBCCE77CD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solidFill>
                  <a:srgbClr val="0B0B60"/>
                </a:solidFill>
                <a:latin typeface="Montserrat" pitchFamily="2" charset="-18"/>
              </a:rPr>
              <a:t>Co nás čeká?</a:t>
            </a:r>
          </a:p>
        </p:txBody>
      </p:sp>
    </p:spTree>
    <p:extLst>
      <p:ext uri="{BB962C8B-B14F-4D97-AF65-F5344CB8AC3E}">
        <p14:creationId xmlns:p14="http://schemas.microsoft.com/office/powerpoint/2010/main" val="983894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60C9F-6C98-A2F4-5C32-B214372E7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b="1" dirty="0">
                <a:solidFill>
                  <a:srgbClr val="0B0B60"/>
                </a:solidFill>
                <a:latin typeface="Montserrat" pitchFamily="2" charset="-18"/>
              </a:rPr>
              <a:t>Co je to 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DBF95-2854-25C5-FA2C-F0001C5DB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Zastřešující pojem</a:t>
            </a:r>
          </a:p>
          <a:p>
            <a:pPr>
              <a:lnSpc>
                <a:spcPct val="100000"/>
              </a:lnSpc>
            </a:pPr>
            <a:endParaRPr lang="cs-CZ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>
              <a:lnSpc>
                <a:spcPct val="100000"/>
              </a:lnSpc>
            </a:pPr>
            <a:r>
              <a:rPr lang="cs-CZ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Algortimy</a:t>
            </a: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, které řeší úlohy</a:t>
            </a:r>
            <a:b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vyžadující lidskou inteligenci</a:t>
            </a:r>
          </a:p>
          <a:p>
            <a:pPr>
              <a:lnSpc>
                <a:spcPct val="100000"/>
              </a:lnSpc>
            </a:pPr>
            <a:endParaRPr lang="cs-CZ" sz="2400" b="1" dirty="0">
              <a:solidFill>
                <a:srgbClr val="0B0B60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>
              <a:lnSpc>
                <a:spcPct val="100000"/>
              </a:lnSpc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Nutnost </a:t>
            </a:r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tréninku</a:t>
            </a: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pomocí dat</a:t>
            </a:r>
          </a:p>
          <a:p>
            <a:pPr>
              <a:lnSpc>
                <a:spcPct val="100000"/>
              </a:lnSpc>
            </a:pPr>
            <a:endParaRPr lang="cs-CZ" sz="24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>
              <a:lnSpc>
                <a:spcPct val="100000"/>
              </a:lnSpc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Od </a:t>
            </a:r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lineární regrese</a:t>
            </a: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po </a:t>
            </a:r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neuronové sítě</a:t>
            </a:r>
          </a:p>
          <a:p>
            <a:endParaRPr lang="cs-CZ" sz="2400" dirty="0"/>
          </a:p>
        </p:txBody>
      </p:sp>
      <p:pic>
        <p:nvPicPr>
          <p:cNvPr id="5" name="Picture 4" descr="Large circle that says &quot;Artificial Intelligence,&quot; inside that is a smaller circle that says &quot;Machine Learning,&quot; and inside the Machine Learning circle is a smaller circle that says &quot;Deep Learning.&quot;">
            <a:extLst>
              <a:ext uri="{FF2B5EF4-FFF2-40B4-BE49-F238E27FC236}">
                <a16:creationId xmlns:a16="http://schemas.microsoft.com/office/drawing/2014/main" id="{34D97F09-D42F-7A22-4527-5D737A86A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502793"/>
            <a:ext cx="4870704" cy="487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624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9574-D2D3-0B84-E3F3-CCC50C44B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423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cs-CZ" sz="4000" b="1" dirty="0">
                <a:solidFill>
                  <a:srgbClr val="0B0B60"/>
                </a:solidFill>
                <a:latin typeface="Montserrat" pitchFamily="2" charset="-18"/>
              </a:rPr>
              <a:t>Nejjednodušší neuronová síť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8B475-BF78-442F-2923-A5B28F966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005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cs-CZ" sz="2400" i="1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Perceptron</a:t>
            </a:r>
            <a:endParaRPr lang="cs-CZ" sz="2400" i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A10AEE-0F10-2E61-8C53-22B5A2366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658" y="2454050"/>
            <a:ext cx="7554683" cy="377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493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A226F-B50C-03FB-1381-27AF90231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197D7-B2F2-378B-4B00-2EE9BCA61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5" name="Picture 4" descr="Jak fungují neuronové sítě: AI inspirovaná lidským mozkem">
            <a:extLst>
              <a:ext uri="{FF2B5EF4-FFF2-40B4-BE49-F238E27FC236}">
                <a16:creationId xmlns:a16="http://schemas.microsoft.com/office/drawing/2014/main" id="{09F0724A-4A94-472E-AD64-B7259536A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4" y="313526"/>
            <a:ext cx="8307483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AB1C1F-65E2-C594-9B84-235AE7533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083" y="5089515"/>
            <a:ext cx="2806720" cy="1403360"/>
          </a:xfrm>
          <a:prstGeom prst="roundRect">
            <a:avLst/>
          </a:prstGeom>
          <a:ln w="38100">
            <a:solidFill>
              <a:schemeClr val="tx1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2F83B2F-0004-A6C3-F15C-F9A768AB291F}"/>
              </a:ext>
            </a:extLst>
          </p:cNvPr>
          <p:cNvCxnSpPr>
            <a:cxnSpLocks/>
          </p:cNvCxnSpPr>
          <p:nvPr/>
        </p:nvCxnSpPr>
        <p:spPr>
          <a:xfrm flipH="1" flipV="1">
            <a:off x="5998369" y="4645819"/>
            <a:ext cx="1955006" cy="1126331"/>
          </a:xfrm>
          <a:prstGeom prst="straightConnector1">
            <a:avLst/>
          </a:prstGeom>
          <a:ln w="38100" cap="sq">
            <a:solidFill>
              <a:schemeClr val="tx1"/>
            </a:solidFill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6158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52C1F-AF7A-544F-3F7B-448DFF80C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b="1" dirty="0">
                <a:solidFill>
                  <a:srgbClr val="0B0B60"/>
                </a:solidFill>
                <a:latin typeface="Montserrat" pitchFamily="2" charset="-18"/>
              </a:rPr>
              <a:t>Co je to LLM?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17DF8-2BBE-B9D8-4563-7D5E3E714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LLM</a:t>
            </a: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= </a:t>
            </a:r>
            <a:r>
              <a:rPr lang="cs-CZ" sz="2400" b="1" dirty="0" err="1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</a:t>
            </a:r>
            <a:r>
              <a:rPr lang="cs-CZ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arge</a:t>
            </a: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cs-CZ" sz="2400" b="1" dirty="0" err="1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</a:t>
            </a:r>
            <a:r>
              <a:rPr lang="cs-CZ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anguage</a:t>
            </a: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M</a:t>
            </a: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odel (Velký jazykový model)</a:t>
            </a:r>
          </a:p>
          <a:p>
            <a:pPr>
              <a:lnSpc>
                <a:spcPct val="100000"/>
              </a:lnSpc>
            </a:pPr>
            <a:endParaRPr lang="cs-CZ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>
              <a:lnSpc>
                <a:spcPct val="100000"/>
              </a:lnSpc>
            </a:pPr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Hluboká neuronová síť</a:t>
            </a: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 miliardami parametrů</a:t>
            </a:r>
          </a:p>
          <a:p>
            <a:pPr>
              <a:lnSpc>
                <a:spcPct val="100000"/>
              </a:lnSpc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Postavená na architektuře </a:t>
            </a:r>
            <a:r>
              <a:rPr lang="cs-CZ" sz="2400" b="1" dirty="0" err="1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transformerů</a:t>
            </a:r>
            <a:endParaRPr lang="cs-CZ" sz="2400" b="1" dirty="0">
              <a:solidFill>
                <a:srgbClr val="0B0B60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>
              <a:lnSpc>
                <a:spcPct val="100000"/>
              </a:lnSpc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Natrénovaná na obrovském množství </a:t>
            </a:r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dat z internetu</a:t>
            </a:r>
          </a:p>
          <a:p>
            <a:pPr>
              <a:lnSpc>
                <a:spcPct val="100000"/>
              </a:lnSpc>
            </a:pPr>
            <a:endParaRPr lang="cs-CZ" sz="2400" b="1" dirty="0">
              <a:solidFill>
                <a:srgbClr val="0B0B60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>
              <a:lnSpc>
                <a:spcPct val="100000"/>
              </a:lnSpc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Chatovací okno – např. </a:t>
            </a:r>
            <a:r>
              <a:rPr lang="cs-CZ" sz="2400" b="1" dirty="0" err="1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ChatGPT</a:t>
            </a:r>
            <a:endParaRPr lang="cs-CZ" sz="2400" b="1" dirty="0">
              <a:solidFill>
                <a:srgbClr val="0B0B60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>
              <a:lnSpc>
                <a:spcPct val="100000"/>
              </a:lnSpc>
            </a:pPr>
            <a:endParaRPr lang="cs-CZ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>
              <a:lnSpc>
                <a:spcPct val="100000"/>
              </a:lnSpc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AI ≈ LLM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399D6C-991B-D442-3E21-F7F30E5479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85" t="12978" r="23499" b="27188"/>
          <a:stretch>
            <a:fillRect/>
          </a:stretch>
        </p:blipFill>
        <p:spPr>
          <a:xfrm>
            <a:off x="10295559" y="4991568"/>
            <a:ext cx="1058241" cy="118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01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1972-7C1C-7BD4-800F-939C2D33F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b="1" dirty="0">
                <a:solidFill>
                  <a:srgbClr val="0B0B60"/>
                </a:solidFill>
                <a:latin typeface="Montserrat" pitchFamily="2" charset="-18"/>
              </a:rPr>
              <a:t>Co jsou to agenti?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3763A-3942-2D43-2804-07E294002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Agent zpracuje zadaný úkol </a:t>
            </a:r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bez interakce s člověkem</a:t>
            </a:r>
          </a:p>
          <a:p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Jeho mozkem je</a:t>
            </a:r>
            <a:r>
              <a:rPr lang="cs-CZ" sz="2400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LLM</a:t>
            </a:r>
            <a:endParaRPr lang="cs-CZ" sz="24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endParaRPr lang="cs-CZ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Základní vlastnosti:</a:t>
            </a:r>
          </a:p>
          <a:p>
            <a:endParaRPr lang="cs-CZ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 1. </a:t>
            </a:r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Autonomie</a:t>
            </a: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– jedná sám</a:t>
            </a:r>
          </a:p>
          <a:p>
            <a:pPr marL="0" indent="0">
              <a:buNone/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 2. </a:t>
            </a:r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Reaktivita</a:t>
            </a: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– reaguje na okolí</a:t>
            </a:r>
          </a:p>
          <a:p>
            <a:pPr marL="0" indent="0">
              <a:buNone/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 3. </a:t>
            </a:r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Proaktivita</a:t>
            </a: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– jde za cílem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89EC40-DDC4-A232-F2A3-D4CC78647C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85" t="12978" r="23499" b="27188"/>
          <a:stretch>
            <a:fillRect/>
          </a:stretch>
        </p:blipFill>
        <p:spPr>
          <a:xfrm>
            <a:off x="10295559" y="4991568"/>
            <a:ext cx="1058241" cy="118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17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53A35-28E0-AAAD-DC25-46C9DA961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b="1" dirty="0">
                <a:solidFill>
                  <a:srgbClr val="0B0B60"/>
                </a:solidFill>
                <a:latin typeface="Montserrat" pitchFamily="2" charset="-18"/>
              </a:rPr>
              <a:t>Asistenti pro psaní kódu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8D25E-1223-CA12-B30F-8E73F1F75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AI asistenti s </a:t>
            </a:r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agentními vlastnostmi</a:t>
            </a:r>
          </a:p>
          <a:p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LLM </a:t>
            </a: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je</a:t>
            </a:r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mozek</a:t>
            </a:r>
          </a:p>
          <a:p>
            <a:endParaRPr lang="cs-CZ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GitHub Copilot</a:t>
            </a:r>
          </a:p>
          <a:p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Claude Code</a:t>
            </a:r>
          </a:p>
          <a:p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Codex</a:t>
            </a:r>
          </a:p>
          <a:p>
            <a:r>
              <a:rPr lang="cs-CZ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Antigravity</a:t>
            </a:r>
            <a:endParaRPr lang="cs-CZ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cs-CZ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Bez vedení píše LLM průměrný kód – </a:t>
            </a:r>
            <a:r>
              <a:rPr lang="cs-CZ" sz="2400" b="1" dirty="0" err="1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vibecoding</a:t>
            </a: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× </a:t>
            </a:r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AI </a:t>
            </a:r>
            <a:r>
              <a:rPr lang="cs-CZ" sz="2400" b="1" dirty="0" err="1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slop</a:t>
            </a:r>
            <a:endParaRPr lang="cs-CZ" sz="2400" dirty="0">
              <a:solidFill>
                <a:srgbClr val="0B0B60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15441E-EEEE-233A-239D-2AE97CF398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85" t="12978" r="23499" b="27188"/>
          <a:stretch>
            <a:fillRect/>
          </a:stretch>
        </p:blipFill>
        <p:spPr>
          <a:xfrm>
            <a:off x="10295559" y="365125"/>
            <a:ext cx="1058241" cy="118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728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7007F-695A-44B9-7402-222A4686B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b="1" dirty="0">
                <a:solidFill>
                  <a:srgbClr val="0B0B60"/>
                </a:solidFill>
                <a:latin typeface="Montserrat" pitchFamily="2" charset="-18"/>
              </a:rPr>
              <a:t>K čemu je framework?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687AE-0525-99A1-4816-FABB258ED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Softwarové asistenty lze dále modifikovat</a:t>
            </a:r>
          </a:p>
          <a:p>
            <a:pPr>
              <a:lnSpc>
                <a:spcPct val="110000"/>
              </a:lnSpc>
            </a:pPr>
            <a:endParaRPr lang="cs-CZ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>
              <a:lnSpc>
                <a:spcPct val="110000"/>
              </a:lnSpc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Framework pomáhá:</a:t>
            </a:r>
          </a:p>
          <a:p>
            <a:pPr>
              <a:lnSpc>
                <a:spcPct val="110000"/>
              </a:lnSpc>
            </a:pPr>
            <a:endParaRPr lang="cs-CZ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 1. Tvořit aplikace </a:t>
            </a:r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netechnickým uživatelům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 2. Držet </a:t>
            </a:r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technický standard</a:t>
            </a: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+ integrace na </a:t>
            </a:r>
            <a:r>
              <a:rPr lang="cs-CZ" sz="2400" b="1" dirty="0" err="1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CodeNow</a:t>
            </a:r>
            <a:endParaRPr lang="cs-CZ" sz="2400" b="1" dirty="0">
              <a:solidFill>
                <a:srgbClr val="0B0B60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 3. </a:t>
            </a:r>
            <a:r>
              <a:rPr lang="cs-CZ" sz="2400" b="1" dirty="0">
                <a:solidFill>
                  <a:srgbClr val="0B0B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Šetřit</a:t>
            </a:r>
            <a:r>
              <a:rPr lang="cs-CZ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AI kredity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B17F1D-5882-06F8-51FF-BFF5855040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85" t="12978" r="23499" b="27188"/>
          <a:stretch>
            <a:fillRect/>
          </a:stretch>
        </p:blipFill>
        <p:spPr>
          <a:xfrm>
            <a:off x="10295559" y="365125"/>
            <a:ext cx="1058241" cy="118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029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B6DBA-9EDB-2B8F-AA01-BDFC60650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cs-CZ" sz="4000" b="1" dirty="0">
                <a:solidFill>
                  <a:srgbClr val="0B0B60"/>
                </a:solidFill>
                <a:latin typeface="Montserrat" pitchFamily="2" charset="-18"/>
              </a:rPr>
              <a:t>Názorná ukázka</a:t>
            </a:r>
          </a:p>
        </p:txBody>
      </p:sp>
    </p:spTree>
    <p:extLst>
      <p:ext uri="{BB962C8B-B14F-4D97-AF65-F5344CB8AC3E}">
        <p14:creationId xmlns:p14="http://schemas.microsoft.com/office/powerpoint/2010/main" val="327016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E4A38-6758-6E51-366B-24142308C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b="1" dirty="0">
                <a:solidFill>
                  <a:srgbClr val="0B0B60"/>
                </a:solidFill>
                <a:latin typeface="Montserrat" pitchFamily="2" charset="-18"/>
              </a:rPr>
              <a:t>Tipy a triky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CB403-2D62-AD10-E868-2B5678B8B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AI vám nevidí do hlavy, potřebuje kontext</a:t>
            </a:r>
          </a:p>
          <a:p>
            <a:pPr>
              <a:lnSpc>
                <a:spcPct val="100000"/>
              </a:lnSpc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Co je jasné vám, nemusí být jasné AI</a:t>
            </a:r>
          </a:p>
          <a:p>
            <a:pPr>
              <a:lnSpc>
                <a:spcPct val="100000"/>
              </a:lnSpc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Vaše plánování je ta nejdůležitější část</a:t>
            </a:r>
          </a:p>
          <a:p>
            <a:pPr>
              <a:lnSpc>
                <a:spcPct val="100000"/>
              </a:lnSpc>
            </a:pPr>
            <a:endParaRPr lang="cs-CZ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>
              <a:lnSpc>
                <a:spcPct val="100000"/>
              </a:lnSpc>
            </a:pPr>
            <a:r>
              <a:rPr lang="cs-CZ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Pozor na </a:t>
            </a:r>
            <a:r>
              <a:rPr lang="cs-CZ" sz="2400">
                <a:latin typeface="Open Sans" pitchFamily="2" charset="0"/>
                <a:ea typeface="Open Sans" pitchFamily="2" charset="0"/>
                <a:cs typeface="Open Sans" pitchFamily="2" charset="0"/>
              </a:rPr>
              <a:t>kontextové okno</a:t>
            </a:r>
            <a:endParaRPr lang="cs-CZ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A7BF6E-F799-B497-9516-983FC3AAEA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85" t="12978" r="23499" b="27188"/>
          <a:stretch>
            <a:fillRect/>
          </a:stretch>
        </p:blipFill>
        <p:spPr>
          <a:xfrm>
            <a:off x="10295559" y="4991568"/>
            <a:ext cx="1058241" cy="118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609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27552-D9DA-2FF1-983E-6370C59F2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E815-CAD4-9B35-2792-60576C565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cs-CZ" sz="4000" b="1" dirty="0">
                <a:solidFill>
                  <a:srgbClr val="0B0B60"/>
                </a:solidFill>
                <a:latin typeface="Montserrat" pitchFamily="2" charset="-18"/>
              </a:rPr>
              <a:t>Jaké máte dotazy?</a:t>
            </a:r>
          </a:p>
        </p:txBody>
      </p:sp>
    </p:spTree>
    <p:extLst>
      <p:ext uri="{BB962C8B-B14F-4D97-AF65-F5344CB8AC3E}">
        <p14:creationId xmlns:p14="http://schemas.microsoft.com/office/powerpoint/2010/main" val="2306987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241</Words>
  <Application>Microsoft Office PowerPoint</Application>
  <PresentationFormat>Widescreen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Montserrat</vt:lpstr>
      <vt:lpstr>Open Sans</vt:lpstr>
      <vt:lpstr>Office Theme</vt:lpstr>
      <vt:lpstr>Představení frameworku pro vývoj aplikací pomocí AI</vt:lpstr>
      <vt:lpstr>Co nás čeká?</vt:lpstr>
      <vt:lpstr>Co je to AI?</vt:lpstr>
      <vt:lpstr>Nejjednodušší neuronová síť</vt:lpstr>
      <vt:lpstr>PowerPoint Presentation</vt:lpstr>
      <vt:lpstr>Co je to LLM?</vt:lpstr>
      <vt:lpstr>Co jsou to agenti?</vt:lpstr>
      <vt:lpstr>Asistenti pro psaní kódu</vt:lpstr>
      <vt:lpstr>K čemu je framework?</vt:lpstr>
      <vt:lpstr>Názorná ukázka</vt:lpstr>
      <vt:lpstr>Tipy a triky</vt:lpstr>
      <vt:lpstr>Jaké máte dotazy?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Mikuláš Kadečka</dc:creator>
  <cp:lastModifiedBy>Mikuláš Kadečka</cp:lastModifiedBy>
  <cp:revision>7</cp:revision>
  <dcterms:created xsi:type="dcterms:W3CDTF">2026-08-01T09:06:13Z</dcterms:created>
  <dcterms:modified xsi:type="dcterms:W3CDTF">2026-08-02T21:10:29Z</dcterms:modified>
</cp:coreProperties>
</file>